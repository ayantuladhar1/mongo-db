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Nuni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7895FB-C7FD-4FC4-8AA0-6FF8C45A30C0}">
  <a:tblStyle styleId="{097895FB-C7FD-4FC4-8AA0-6FF8C45A30C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slideMaster" Target="slideMasters/slideMaster1.xml"/><Relationship Id="rId19" Type="http://schemas.openxmlformats.org/officeDocument/2006/relationships/font" Target="fonts/Nunito-boldItalic.fntdata"/><Relationship Id="rId6" Type="http://schemas.openxmlformats.org/officeDocument/2006/relationships/notesMaster" Target="notesMasters/notesMaster1.xml"/><Relationship Id="rId18" Type="http://schemas.openxmlformats.org/officeDocument/2006/relationships/font" Target="fonts/Nunito-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4a11c48be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4a11c48be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4a11c48be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4a11c48be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4a11c48be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4a11c48be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4a11c48be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4a11c48be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4a11c48be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4a11c48be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4a11c48be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4a11c48be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4a11c48be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4a11c48be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4a11c48be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4a11c48be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259000"/>
            <a:ext cx="8520600" cy="451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chemeClr val="dk1"/>
                </a:solidFill>
                <a:highlight>
                  <a:srgbClr val="FFFFFF"/>
                </a:highlight>
                <a:latin typeface="Nunito"/>
                <a:ea typeface="Nunito"/>
                <a:cs typeface="Nunito"/>
                <a:sym typeface="Nunito"/>
              </a:rPr>
              <a:t>MongoDB is a cross-platform, document oriented database that provides, high performance, high availability, and easy scalability. MongoDB works on concept of collection and document.</a:t>
            </a:r>
            <a:endParaRPr sz="1100">
              <a:solidFill>
                <a:schemeClr val="dk1"/>
              </a:solidFill>
              <a:highlight>
                <a:srgbClr val="FFFFFF"/>
              </a:highlight>
              <a:latin typeface="Nunito"/>
              <a:ea typeface="Nunito"/>
              <a:cs typeface="Nunito"/>
              <a:sym typeface="Nunito"/>
            </a:endParaRPr>
          </a:p>
          <a:p>
            <a:pPr indent="0" lvl="0" marL="0" rtl="0" algn="l">
              <a:lnSpc>
                <a:spcPct val="125000"/>
              </a:lnSpc>
              <a:spcBef>
                <a:spcPts val="1800"/>
              </a:spcBef>
              <a:spcAft>
                <a:spcPts val="0"/>
              </a:spcAft>
              <a:buClr>
                <a:schemeClr val="dk1"/>
              </a:buClr>
              <a:buSzPts val="1100"/>
              <a:buFont typeface="Arial"/>
              <a:buNone/>
            </a:pPr>
            <a:r>
              <a:rPr lang="en-GB" sz="1100">
                <a:solidFill>
                  <a:schemeClr val="dk1"/>
                </a:solidFill>
              </a:rPr>
              <a:t>Database</a:t>
            </a:r>
            <a:endParaRPr sz="1100">
              <a:solidFill>
                <a:schemeClr val="dk1"/>
              </a:solidFill>
            </a:endParaRPr>
          </a:p>
          <a:p>
            <a:pPr indent="0" lvl="0" marL="0" rtl="0" algn="just">
              <a:lnSpc>
                <a:spcPct val="160000"/>
              </a:lnSpc>
              <a:spcBef>
                <a:spcPts val="600"/>
              </a:spcBef>
              <a:spcAft>
                <a:spcPts val="0"/>
              </a:spcAft>
              <a:buClr>
                <a:schemeClr val="dk1"/>
              </a:buClr>
              <a:buSzPts val="1100"/>
              <a:buFont typeface="Arial"/>
              <a:buNone/>
            </a:pPr>
            <a:r>
              <a:rPr lang="en-GB" sz="1100">
                <a:solidFill>
                  <a:schemeClr val="dk1"/>
                </a:solidFill>
                <a:latin typeface="Nunito"/>
                <a:ea typeface="Nunito"/>
                <a:cs typeface="Nunito"/>
                <a:sym typeface="Nunito"/>
              </a:rPr>
              <a:t>Database is a physical container for collections. Each database gets its own set of files on the file system. A single MongoDB server typically has multiple databases.</a:t>
            </a:r>
            <a:endParaRPr sz="1100">
              <a:solidFill>
                <a:schemeClr val="dk1"/>
              </a:solidFill>
              <a:latin typeface="Nunito"/>
              <a:ea typeface="Nunito"/>
              <a:cs typeface="Nunito"/>
              <a:sym typeface="Nunito"/>
            </a:endParaRPr>
          </a:p>
          <a:p>
            <a:pPr indent="0" lvl="0" marL="0" rtl="0" algn="l">
              <a:lnSpc>
                <a:spcPct val="125000"/>
              </a:lnSpc>
              <a:spcBef>
                <a:spcPts val="1800"/>
              </a:spcBef>
              <a:spcAft>
                <a:spcPts val="0"/>
              </a:spcAft>
              <a:buClr>
                <a:schemeClr val="dk1"/>
              </a:buClr>
              <a:buSzPts val="1100"/>
              <a:buFont typeface="Arial"/>
              <a:buNone/>
            </a:pPr>
            <a:r>
              <a:rPr lang="en-GB" sz="1100">
                <a:solidFill>
                  <a:schemeClr val="dk1"/>
                </a:solidFill>
              </a:rPr>
              <a:t>Collection</a:t>
            </a:r>
            <a:endParaRPr sz="1100">
              <a:solidFill>
                <a:schemeClr val="dk1"/>
              </a:solidFill>
            </a:endParaRPr>
          </a:p>
          <a:p>
            <a:pPr indent="0" lvl="0" marL="0" rtl="0" algn="just">
              <a:lnSpc>
                <a:spcPct val="160000"/>
              </a:lnSpc>
              <a:spcBef>
                <a:spcPts val="600"/>
              </a:spcBef>
              <a:spcAft>
                <a:spcPts val="0"/>
              </a:spcAft>
              <a:buClr>
                <a:schemeClr val="dk1"/>
              </a:buClr>
              <a:buSzPts val="1100"/>
              <a:buFont typeface="Arial"/>
              <a:buNone/>
            </a:pPr>
            <a:r>
              <a:rPr lang="en-GB" sz="1100">
                <a:solidFill>
                  <a:schemeClr val="dk1"/>
                </a:solidFill>
                <a:latin typeface="Nunito"/>
                <a:ea typeface="Nunito"/>
                <a:cs typeface="Nunito"/>
                <a:sym typeface="Nunito"/>
              </a:rPr>
              <a:t>Collection is a group of MongoDB documents. It is the equivalent of an RDBMS table. A collection exists within a single database. Collections do not enforce a schema. Documents within a collection can have different fields. Typically, all documents in a collection are of similar or related purpose.</a:t>
            </a:r>
            <a:endParaRPr sz="1100">
              <a:solidFill>
                <a:schemeClr val="dk1"/>
              </a:solidFill>
              <a:latin typeface="Nunito"/>
              <a:ea typeface="Nunito"/>
              <a:cs typeface="Nunito"/>
              <a:sym typeface="Nunito"/>
            </a:endParaRPr>
          </a:p>
          <a:p>
            <a:pPr indent="0" lvl="0" marL="0" rtl="0" algn="l">
              <a:lnSpc>
                <a:spcPct val="125000"/>
              </a:lnSpc>
              <a:spcBef>
                <a:spcPts val="1800"/>
              </a:spcBef>
              <a:spcAft>
                <a:spcPts val="0"/>
              </a:spcAft>
              <a:buClr>
                <a:schemeClr val="dk1"/>
              </a:buClr>
              <a:buSzPts val="1100"/>
              <a:buFont typeface="Arial"/>
              <a:buNone/>
            </a:pPr>
            <a:r>
              <a:rPr lang="en-GB" sz="1100">
                <a:solidFill>
                  <a:schemeClr val="dk1"/>
                </a:solidFill>
              </a:rPr>
              <a:t>Document</a:t>
            </a:r>
            <a:endParaRPr sz="1100">
              <a:solidFill>
                <a:schemeClr val="dk1"/>
              </a:solidFill>
            </a:endParaRPr>
          </a:p>
          <a:p>
            <a:pPr indent="0" lvl="0" marL="0" rtl="0" algn="just">
              <a:lnSpc>
                <a:spcPct val="160000"/>
              </a:lnSpc>
              <a:spcBef>
                <a:spcPts val="600"/>
              </a:spcBef>
              <a:spcAft>
                <a:spcPts val="0"/>
              </a:spcAft>
              <a:buClr>
                <a:schemeClr val="dk1"/>
              </a:buClr>
              <a:buSzPts val="1100"/>
              <a:buFont typeface="Arial"/>
              <a:buNone/>
            </a:pPr>
            <a:r>
              <a:rPr lang="en-GB" sz="1100">
                <a:solidFill>
                  <a:schemeClr val="dk1"/>
                </a:solidFill>
                <a:latin typeface="Nunito"/>
                <a:ea typeface="Nunito"/>
                <a:cs typeface="Nunito"/>
                <a:sym typeface="Nunito"/>
              </a:rPr>
              <a:t>A document is a set of key-value pairs. Documents have dynamic schema. Dynamic schema means that documents in the same collection do not need to have the same set of fields or structure, and common fields in a collection's documents may hold different types of data.</a:t>
            </a:r>
            <a:endParaRPr sz="1100">
              <a:solidFill>
                <a:schemeClr val="dk1"/>
              </a:solidFill>
              <a:latin typeface="Nunito"/>
              <a:ea typeface="Nunito"/>
              <a:cs typeface="Nunito"/>
              <a:sym typeface="Nunito"/>
            </a:endParaRPr>
          </a:p>
          <a:p>
            <a:pPr indent="0" lvl="0" marL="0" rtl="0" algn="l">
              <a:spcBef>
                <a:spcPts val="700"/>
              </a:spcBef>
              <a:spcAft>
                <a:spcPts val="0"/>
              </a:spcAft>
              <a:buNone/>
            </a:pPr>
            <a:r>
              <a:t/>
            </a:r>
            <a:endParaRPr sz="1100">
              <a:solidFill>
                <a:schemeClr val="dk1"/>
              </a:solidFill>
              <a:highlight>
                <a:srgbClr val="FFFFFF"/>
              </a:highlight>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graphicFrame>
        <p:nvGraphicFramePr>
          <p:cNvPr id="59" name="Google Shape;59;p14"/>
          <p:cNvGraphicFramePr/>
          <p:nvPr/>
        </p:nvGraphicFramePr>
        <p:xfrm>
          <a:off x="1329650" y="458800"/>
          <a:ext cx="3000000" cy="3000000"/>
        </p:xfrm>
        <a:graphic>
          <a:graphicData uri="http://schemas.openxmlformats.org/drawingml/2006/table">
            <a:tbl>
              <a:tblPr>
                <a:noFill/>
                <a:tableStyleId>{097895FB-C7FD-4FC4-8AA0-6FF8C45A30C0}</a:tableStyleId>
              </a:tblPr>
              <a:tblGrid>
                <a:gridCol w="2914650"/>
                <a:gridCol w="2914650"/>
              </a:tblGrid>
              <a:tr h="361950">
                <a:tc>
                  <a:txBody>
                    <a:bodyPr/>
                    <a:lstStyle/>
                    <a:p>
                      <a:pPr indent="0" lvl="0" marL="0" rtl="0" algn="ctr">
                        <a:lnSpc>
                          <a:spcPct val="142857"/>
                        </a:lnSpc>
                        <a:spcBef>
                          <a:spcPts val="0"/>
                        </a:spcBef>
                        <a:spcAft>
                          <a:spcPts val="0"/>
                        </a:spcAft>
                        <a:buNone/>
                      </a:pPr>
                      <a:r>
                        <a:rPr b="1" lang="en-GB" sz="1150">
                          <a:solidFill>
                            <a:srgbClr val="212529"/>
                          </a:solidFill>
                          <a:latin typeface="Nunito"/>
                          <a:ea typeface="Nunito"/>
                          <a:cs typeface="Nunito"/>
                          <a:sym typeface="Nunito"/>
                        </a:rPr>
                        <a:t>RDBMS</a:t>
                      </a:r>
                      <a:endParaRPr b="1"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solidFill>
                      <a:srgbClr val="EEEEEE"/>
                    </a:solidFill>
                  </a:tcPr>
                </a:tc>
                <a:tc>
                  <a:txBody>
                    <a:bodyPr/>
                    <a:lstStyle/>
                    <a:p>
                      <a:pPr indent="0" lvl="0" marL="0" rtl="0" algn="ctr">
                        <a:lnSpc>
                          <a:spcPct val="142857"/>
                        </a:lnSpc>
                        <a:spcBef>
                          <a:spcPts val="0"/>
                        </a:spcBef>
                        <a:spcAft>
                          <a:spcPts val="0"/>
                        </a:spcAft>
                        <a:buNone/>
                      </a:pPr>
                      <a:r>
                        <a:rPr b="1" lang="en-GB" sz="1150">
                          <a:solidFill>
                            <a:srgbClr val="212529"/>
                          </a:solidFill>
                          <a:latin typeface="Nunito"/>
                          <a:ea typeface="Nunito"/>
                          <a:cs typeface="Nunito"/>
                          <a:sym typeface="Nunito"/>
                        </a:rPr>
                        <a:t>MongoDB</a:t>
                      </a:r>
                      <a:endParaRPr b="1"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solidFill>
                      <a:srgbClr val="EEEEEE"/>
                    </a:solidFill>
                  </a:tcPr>
                </a:tc>
              </a:tr>
              <a:tr h="361950">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Database</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Database</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r>
              <a:tr h="361950">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Table</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Collection</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r>
              <a:tr h="361950">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Tuple/Row</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Document</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r>
              <a:tr h="361950">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column</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Field</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r>
              <a:tr h="361950">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Table Join</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Embedded Documents</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r>
              <a:tr h="571500">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Primary Key</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c>
                  <a:txBody>
                    <a:bodyPr/>
                    <a:lstStyle/>
                    <a:p>
                      <a:pPr indent="0" lvl="0" marL="0" rtl="0" algn="ctr">
                        <a:lnSpc>
                          <a:spcPct val="142857"/>
                        </a:lnSpc>
                        <a:spcBef>
                          <a:spcPts val="0"/>
                        </a:spcBef>
                        <a:spcAft>
                          <a:spcPts val="0"/>
                        </a:spcAft>
                        <a:buNone/>
                      </a:pPr>
                      <a:r>
                        <a:rPr lang="en-GB" sz="1150">
                          <a:solidFill>
                            <a:srgbClr val="212529"/>
                          </a:solidFill>
                          <a:latin typeface="Nunito"/>
                          <a:ea typeface="Nunito"/>
                          <a:cs typeface="Nunito"/>
                          <a:sym typeface="Nunito"/>
                        </a:rPr>
                        <a:t>Primary Key (Default key _id provided by MongoDB itself)</a:t>
                      </a:r>
                      <a:endParaRPr sz="1150">
                        <a:solidFill>
                          <a:srgbClr val="212529"/>
                        </a:solidFill>
                        <a:latin typeface="Nunito"/>
                        <a:ea typeface="Nunito"/>
                        <a:cs typeface="Nunito"/>
                        <a:sym typeface="Nunito"/>
                      </a:endParaRPr>
                    </a:p>
                  </a:txBody>
                  <a:tcPr marT="76200" marB="76200" marR="76200" marL="76200">
                    <a:lnL cap="flat" cmpd="sng" w="9475">
                      <a:solidFill>
                        <a:srgbClr val="DDDDDD"/>
                      </a:solidFill>
                      <a:prstDash val="solid"/>
                      <a:round/>
                      <a:headEnd len="sm" w="sm" type="none"/>
                      <a:tailEnd len="sm" w="sm" type="none"/>
                    </a:lnL>
                    <a:lnR cap="flat" cmpd="sng" w="9475">
                      <a:solidFill>
                        <a:srgbClr val="DDDDDD"/>
                      </a:solidFill>
                      <a:prstDash val="solid"/>
                      <a:round/>
                      <a:headEnd len="sm" w="sm" type="none"/>
                      <a:tailEnd len="sm" w="sm" type="none"/>
                    </a:lnR>
                    <a:lnT cap="flat" cmpd="sng" w="9475">
                      <a:solidFill>
                        <a:srgbClr val="DDDDDD"/>
                      </a:solidFill>
                      <a:prstDash val="solid"/>
                      <a:round/>
                      <a:headEnd len="sm" w="sm" type="none"/>
                      <a:tailEnd len="sm" w="sm" type="none"/>
                    </a:lnT>
                    <a:lnB cap="flat" cmpd="sng" w="9475">
                      <a:solidFill>
                        <a:srgbClr val="DDDDDD"/>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idx="1" type="body"/>
          </p:nvPr>
        </p:nvSpPr>
        <p:spPr>
          <a:xfrm>
            <a:off x="311700" y="194475"/>
            <a:ext cx="8520600" cy="4374300"/>
          </a:xfrm>
          <a:prstGeom prst="rect">
            <a:avLst/>
          </a:prstGeom>
        </p:spPr>
        <p:txBody>
          <a:bodyPr anchorCtr="0" anchor="t" bIns="91425" lIns="91425" spcFirstLastPara="1" rIns="91425" wrap="square" tIns="91425">
            <a:normAutofit lnSpcReduction="20000"/>
          </a:bodyPr>
          <a:lstStyle/>
          <a:p>
            <a:pPr indent="0" lvl="0" marL="0" rtl="0" algn="l">
              <a:lnSpc>
                <a:spcPct val="105000"/>
              </a:lnSpc>
              <a:spcBef>
                <a:spcPts val="100"/>
              </a:spcBef>
              <a:spcAft>
                <a:spcPts val="0"/>
              </a:spcAft>
              <a:buClr>
                <a:schemeClr val="dk1"/>
              </a:buClr>
              <a:buSzPts val="1100"/>
              <a:buFont typeface="Arial"/>
              <a:buNone/>
            </a:pPr>
            <a:r>
              <a:rPr lang="en-GB" sz="1750">
                <a:solidFill>
                  <a:schemeClr val="dk1"/>
                </a:solidFill>
              </a:rPr>
              <a:t>Sample Document</a:t>
            </a:r>
            <a:endParaRPr sz="1750">
              <a:solidFill>
                <a:schemeClr val="dk1"/>
              </a:solidFill>
            </a:endParaRPr>
          </a:p>
          <a:p>
            <a:pPr indent="0" lvl="0" marL="0" rtl="0" algn="just">
              <a:lnSpc>
                <a:spcPct val="105000"/>
              </a:lnSpc>
              <a:spcBef>
                <a:spcPts val="100"/>
              </a:spcBef>
              <a:spcAft>
                <a:spcPts val="0"/>
              </a:spcAft>
              <a:buClr>
                <a:schemeClr val="dk1"/>
              </a:buClr>
              <a:buSzPts val="1100"/>
              <a:buFont typeface="Arial"/>
              <a:buNone/>
            </a:pPr>
            <a:r>
              <a:rPr lang="en-GB" sz="1200">
                <a:solidFill>
                  <a:schemeClr val="dk1"/>
                </a:solidFill>
                <a:latin typeface="Nunito"/>
                <a:ea typeface="Nunito"/>
                <a:cs typeface="Nunito"/>
                <a:sym typeface="Nunito"/>
              </a:rPr>
              <a:t>Following example shows the document structure of a blog site, which is simply a comma separated key value pair.</a:t>
            </a:r>
            <a:endParaRPr sz="1200">
              <a:solidFill>
                <a:schemeClr val="dk1"/>
              </a:solidFill>
              <a:latin typeface="Nunito"/>
              <a:ea typeface="Nunito"/>
              <a:cs typeface="Nunito"/>
              <a:sym typeface="Nunito"/>
            </a:endParaRPr>
          </a:p>
          <a:p>
            <a:pPr indent="0" lvl="0" marL="0" rtl="0" algn="l">
              <a:lnSpc>
                <a:spcPct val="105000"/>
              </a:lnSpc>
              <a:spcBef>
                <a:spcPts val="100"/>
              </a:spcBef>
              <a:spcAft>
                <a:spcPts val="0"/>
              </a:spcAft>
              <a:buNone/>
            </a:pP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_id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0066"/>
                </a:solidFill>
                <a:highlight>
                  <a:srgbClr val="EEEEEE"/>
                </a:highlight>
              </a:rPr>
              <a:t>ObjectId</a:t>
            </a:r>
            <a:r>
              <a:rPr lang="en-GB" sz="1150">
                <a:solidFill>
                  <a:srgbClr val="666600"/>
                </a:solidFill>
                <a:highlight>
                  <a:srgbClr val="EEEEEE"/>
                </a:highlight>
              </a:rPr>
              <a:t>(</a:t>
            </a:r>
            <a:r>
              <a:rPr lang="en-GB" sz="1150">
                <a:solidFill>
                  <a:srgbClr val="006666"/>
                </a:solidFill>
                <a:highlight>
                  <a:srgbClr val="EEEEEE"/>
                </a:highlight>
              </a:rPr>
              <a:t>7df78ad8902c</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title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'MongoDB Overview'</a:t>
            </a:r>
            <a:r>
              <a:rPr lang="en-GB" sz="1150">
                <a:solidFill>
                  <a:srgbClr val="666600"/>
                </a:solidFill>
                <a:highlight>
                  <a:srgbClr val="EEEEEE"/>
                </a:highlight>
              </a:rPr>
              <a:t>,</a:t>
            </a:r>
            <a:r>
              <a:rPr lang="en-GB" sz="1150">
                <a:solidFill>
                  <a:schemeClr val="dk1"/>
                </a:solidFill>
                <a:highlight>
                  <a:srgbClr val="EEEEEE"/>
                </a:highlight>
              </a:rPr>
              <a:t> </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description</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'MongoDB is no sql database'</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a:t>
            </a:r>
            <a:r>
              <a:rPr lang="en-GB" sz="1150">
                <a:solidFill>
                  <a:schemeClr val="dk1"/>
                </a:solidFill>
                <a:highlight>
                  <a:srgbClr val="EEEEEE"/>
                </a:highlight>
              </a:rPr>
              <a:t> </a:t>
            </a:r>
            <a:r>
              <a:rPr lang="en-GB" sz="1150">
                <a:solidFill>
                  <a:schemeClr val="dk1"/>
                </a:solidFill>
                <a:highlight>
                  <a:srgbClr val="EEEEEE"/>
                </a:highlight>
              </a:rPr>
              <a:t>tags</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a:t>
            </a:r>
            <a:r>
              <a:rPr lang="en-GB" sz="1150">
                <a:solidFill>
                  <a:srgbClr val="008800"/>
                </a:solidFill>
                <a:highlight>
                  <a:srgbClr val="EEEEEE"/>
                </a:highlight>
              </a:rPr>
              <a:t>'mongodb'</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'database'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'NoSQL'</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likes</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6666"/>
                </a:solidFill>
                <a:highlight>
                  <a:srgbClr val="EEEEEE"/>
                </a:highlight>
              </a:rPr>
              <a:t>100</a:t>
            </a:r>
            <a:r>
              <a:rPr lang="en-GB" sz="1150">
                <a:solidFill>
                  <a:srgbClr val="666600"/>
                </a:solidFill>
                <a:highlight>
                  <a:srgbClr val="EEEEEE"/>
                </a:highlight>
              </a:rPr>
              <a:t>,</a:t>
            </a:r>
            <a:r>
              <a:rPr lang="en-GB" sz="1150">
                <a:solidFill>
                  <a:schemeClr val="dk1"/>
                </a:solidFill>
                <a:highlight>
                  <a:srgbClr val="EEEEEE"/>
                </a:highlight>
              </a:rPr>
              <a:t> </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comments</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a:t>
            </a:r>
            <a:r>
              <a:rPr lang="en-GB" sz="1150">
                <a:solidFill>
                  <a:schemeClr val="dk1"/>
                </a:solidFill>
                <a:highlight>
                  <a:srgbClr val="EEEEEE"/>
                </a:highlight>
              </a:rPr>
              <a:t>	</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user</a:t>
            </a:r>
            <a:r>
              <a:rPr lang="en-GB" sz="1150">
                <a:solidFill>
                  <a:srgbClr val="666600"/>
                </a:solidFill>
                <a:highlight>
                  <a:srgbClr val="EEEEEE"/>
                </a:highlight>
              </a:rPr>
              <a:t>:</a:t>
            </a:r>
            <a:r>
              <a:rPr lang="en-GB" sz="1150">
                <a:solidFill>
                  <a:srgbClr val="008800"/>
                </a:solidFill>
                <a:highlight>
                  <a:srgbClr val="EEEEEE"/>
                </a:highlight>
              </a:rPr>
              <a:t>'user1'</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message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'My first comment'</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dateCreated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0088"/>
                </a:solidFill>
                <a:highlight>
                  <a:srgbClr val="EEEEEE"/>
                </a:highlight>
              </a:rPr>
              <a:t>new</a:t>
            </a:r>
            <a:r>
              <a:rPr lang="en-GB" sz="1150">
                <a:solidFill>
                  <a:schemeClr val="dk1"/>
                </a:solidFill>
                <a:highlight>
                  <a:srgbClr val="EEEEEE"/>
                </a:highlight>
              </a:rPr>
              <a:t> </a:t>
            </a:r>
            <a:r>
              <a:rPr lang="en-GB" sz="1150">
                <a:solidFill>
                  <a:srgbClr val="660066"/>
                </a:solidFill>
                <a:highlight>
                  <a:srgbClr val="EEEEEE"/>
                </a:highlight>
              </a:rPr>
              <a:t>Date</a:t>
            </a:r>
            <a:r>
              <a:rPr lang="en-GB" sz="1150">
                <a:solidFill>
                  <a:srgbClr val="666600"/>
                </a:solidFill>
                <a:highlight>
                  <a:srgbClr val="EEEEEE"/>
                </a:highlight>
              </a:rPr>
              <a:t>(</a:t>
            </a:r>
            <a:r>
              <a:rPr lang="en-GB" sz="1150">
                <a:solidFill>
                  <a:srgbClr val="006666"/>
                </a:solidFill>
                <a:highlight>
                  <a:srgbClr val="EEEEEE"/>
                </a:highlight>
              </a:rPr>
              <a:t>2011</a:t>
            </a:r>
            <a:r>
              <a:rPr lang="en-GB" sz="1150">
                <a:solidFill>
                  <a:srgbClr val="666600"/>
                </a:solidFill>
                <a:highlight>
                  <a:srgbClr val="EEEEEE"/>
                </a:highlight>
              </a:rPr>
              <a:t>,</a:t>
            </a:r>
            <a:r>
              <a:rPr lang="en-GB" sz="1150">
                <a:solidFill>
                  <a:srgbClr val="006666"/>
                </a:solidFill>
                <a:highlight>
                  <a:srgbClr val="EEEEEE"/>
                </a:highlight>
              </a:rPr>
              <a:t>1</a:t>
            </a:r>
            <a:r>
              <a:rPr lang="en-GB" sz="1150">
                <a:solidFill>
                  <a:srgbClr val="666600"/>
                </a:solidFill>
                <a:highlight>
                  <a:srgbClr val="EEEEEE"/>
                </a:highlight>
              </a:rPr>
              <a:t>,</a:t>
            </a:r>
            <a:r>
              <a:rPr lang="en-GB" sz="1150">
                <a:solidFill>
                  <a:srgbClr val="006666"/>
                </a:solidFill>
                <a:highlight>
                  <a:srgbClr val="EEEEEE"/>
                </a:highlight>
              </a:rPr>
              <a:t>20</a:t>
            </a:r>
            <a:r>
              <a:rPr lang="en-GB" sz="1150">
                <a:solidFill>
                  <a:srgbClr val="666600"/>
                </a:solidFill>
                <a:highlight>
                  <a:srgbClr val="EEEEEE"/>
                </a:highlight>
              </a:rPr>
              <a:t>,</a:t>
            </a:r>
            <a:r>
              <a:rPr lang="en-GB" sz="1150">
                <a:solidFill>
                  <a:srgbClr val="006666"/>
                </a:solidFill>
                <a:highlight>
                  <a:srgbClr val="EEEEEE"/>
                </a:highlight>
              </a:rPr>
              <a:t>2</a:t>
            </a:r>
            <a:r>
              <a:rPr lang="en-GB" sz="1150">
                <a:solidFill>
                  <a:srgbClr val="666600"/>
                </a:solidFill>
                <a:highlight>
                  <a:srgbClr val="EEEEEE"/>
                </a:highlight>
              </a:rPr>
              <a:t>,</a:t>
            </a:r>
            <a:r>
              <a:rPr lang="en-GB" sz="1150">
                <a:solidFill>
                  <a:srgbClr val="006666"/>
                </a:solidFill>
                <a:highlight>
                  <a:srgbClr val="EEEEEE"/>
                </a:highlight>
              </a:rPr>
              <a:t>15</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like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6666"/>
                </a:solidFill>
                <a:highlight>
                  <a:srgbClr val="EEEEEE"/>
                </a:highlight>
              </a:rPr>
              <a:t>0</a:t>
            </a:r>
            <a:r>
              <a:rPr lang="en-GB" sz="1150">
                <a:solidFill>
                  <a:schemeClr val="dk1"/>
                </a:solidFill>
                <a:highlight>
                  <a:srgbClr val="EEEEEE"/>
                </a:highlight>
              </a:rPr>
              <a:t> </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user</a:t>
            </a:r>
            <a:r>
              <a:rPr lang="en-GB" sz="1150">
                <a:solidFill>
                  <a:srgbClr val="666600"/>
                </a:solidFill>
                <a:highlight>
                  <a:srgbClr val="EEEEEE"/>
                </a:highlight>
              </a:rPr>
              <a:t>:</a:t>
            </a:r>
            <a:r>
              <a:rPr lang="en-GB" sz="1150">
                <a:solidFill>
                  <a:srgbClr val="008800"/>
                </a:solidFill>
                <a:highlight>
                  <a:srgbClr val="EEEEEE"/>
                </a:highlight>
              </a:rPr>
              <a:t>'user2'</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message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'My second comments'</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dateCreated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0088"/>
                </a:solidFill>
                <a:highlight>
                  <a:srgbClr val="EEEEEE"/>
                </a:highlight>
              </a:rPr>
              <a:t>new</a:t>
            </a:r>
            <a:r>
              <a:rPr lang="en-GB" sz="1150">
                <a:solidFill>
                  <a:schemeClr val="dk1"/>
                </a:solidFill>
                <a:highlight>
                  <a:srgbClr val="EEEEEE"/>
                </a:highlight>
              </a:rPr>
              <a:t> </a:t>
            </a:r>
            <a:r>
              <a:rPr lang="en-GB" sz="1150">
                <a:solidFill>
                  <a:srgbClr val="660066"/>
                </a:solidFill>
                <a:highlight>
                  <a:srgbClr val="EEEEEE"/>
                </a:highlight>
              </a:rPr>
              <a:t>Date</a:t>
            </a:r>
            <a:r>
              <a:rPr lang="en-GB" sz="1150">
                <a:solidFill>
                  <a:srgbClr val="666600"/>
                </a:solidFill>
                <a:highlight>
                  <a:srgbClr val="EEEEEE"/>
                </a:highlight>
              </a:rPr>
              <a:t>(</a:t>
            </a:r>
            <a:r>
              <a:rPr lang="en-GB" sz="1150">
                <a:solidFill>
                  <a:srgbClr val="006666"/>
                </a:solidFill>
                <a:highlight>
                  <a:srgbClr val="EEEEEE"/>
                </a:highlight>
              </a:rPr>
              <a:t>2011</a:t>
            </a:r>
            <a:r>
              <a:rPr lang="en-GB" sz="1150">
                <a:solidFill>
                  <a:srgbClr val="666600"/>
                </a:solidFill>
                <a:highlight>
                  <a:srgbClr val="EEEEEE"/>
                </a:highlight>
              </a:rPr>
              <a:t>,</a:t>
            </a:r>
            <a:r>
              <a:rPr lang="en-GB" sz="1150">
                <a:solidFill>
                  <a:srgbClr val="006666"/>
                </a:solidFill>
                <a:highlight>
                  <a:srgbClr val="EEEEEE"/>
                </a:highlight>
              </a:rPr>
              <a:t>1</a:t>
            </a:r>
            <a:r>
              <a:rPr lang="en-GB" sz="1150">
                <a:solidFill>
                  <a:srgbClr val="666600"/>
                </a:solidFill>
                <a:highlight>
                  <a:srgbClr val="EEEEEE"/>
                </a:highlight>
              </a:rPr>
              <a:t>,</a:t>
            </a:r>
            <a:r>
              <a:rPr lang="en-GB" sz="1150">
                <a:solidFill>
                  <a:srgbClr val="006666"/>
                </a:solidFill>
                <a:highlight>
                  <a:srgbClr val="EEEEEE"/>
                </a:highlight>
              </a:rPr>
              <a:t>25</a:t>
            </a:r>
            <a:r>
              <a:rPr lang="en-GB" sz="1150">
                <a:solidFill>
                  <a:srgbClr val="666600"/>
                </a:solidFill>
                <a:highlight>
                  <a:srgbClr val="EEEEEE"/>
                </a:highlight>
              </a:rPr>
              <a:t>,</a:t>
            </a:r>
            <a:r>
              <a:rPr lang="en-GB" sz="1150">
                <a:solidFill>
                  <a:srgbClr val="006666"/>
                </a:solidFill>
                <a:highlight>
                  <a:srgbClr val="EEEEEE"/>
                </a:highlight>
              </a:rPr>
              <a:t>7</a:t>
            </a:r>
            <a:r>
              <a:rPr lang="en-GB" sz="1150">
                <a:solidFill>
                  <a:srgbClr val="666600"/>
                </a:solidFill>
                <a:highlight>
                  <a:srgbClr val="EEEEEE"/>
                </a:highlight>
              </a:rPr>
              <a:t>,</a:t>
            </a:r>
            <a:r>
              <a:rPr lang="en-GB" sz="1150">
                <a:solidFill>
                  <a:srgbClr val="006666"/>
                </a:solidFill>
                <a:highlight>
                  <a:srgbClr val="EEEEEE"/>
                </a:highlight>
              </a:rPr>
              <a:t>45</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like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6666"/>
                </a:solidFill>
                <a:highlight>
                  <a:srgbClr val="EEEEEE"/>
                </a:highlight>
              </a:rPr>
              <a:t>5</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5000"/>
              </a:lnSpc>
              <a:spcBef>
                <a:spcPts val="100"/>
              </a:spcBef>
              <a:spcAft>
                <a:spcPts val="0"/>
              </a:spcAft>
              <a:buNone/>
            </a:pP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25400" marR="25400" rtl="0" algn="l">
              <a:lnSpc>
                <a:spcPct val="105000"/>
              </a:lnSpc>
              <a:spcBef>
                <a:spcPts val="100"/>
              </a:spcBef>
              <a:spcAft>
                <a:spcPts val="0"/>
              </a:spcAft>
              <a:buClr>
                <a:schemeClr val="dk1"/>
              </a:buClr>
              <a:buSzPts val="1100"/>
              <a:buFont typeface="Arial"/>
              <a:buNone/>
            </a:pPr>
            <a:r>
              <a:rPr lang="en-GB" sz="1150">
                <a:solidFill>
                  <a:srgbClr val="666600"/>
                </a:solidFill>
                <a:highlight>
                  <a:srgbClr val="EEEEEE"/>
                </a:highlight>
              </a:rPr>
              <a:t>}</a:t>
            </a:r>
            <a:endParaRPr sz="1150">
              <a:solidFill>
                <a:srgbClr val="666600"/>
              </a:solidFill>
              <a:highlight>
                <a:srgbClr val="EEEEEE"/>
              </a:highlight>
            </a:endParaRPr>
          </a:p>
          <a:p>
            <a:pPr indent="0" lvl="0" marL="0" rtl="0" algn="l">
              <a:lnSpc>
                <a:spcPct val="105000"/>
              </a:lnSpc>
              <a:spcBef>
                <a:spcPts val="100"/>
              </a:spcBef>
              <a:spcAft>
                <a:spcPts val="1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idx="1" type="body"/>
          </p:nvPr>
        </p:nvSpPr>
        <p:spPr>
          <a:xfrm>
            <a:off x="311700" y="194475"/>
            <a:ext cx="8520600" cy="45318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0"/>
              </a:spcAft>
              <a:buNone/>
            </a:pPr>
            <a:r>
              <a:rPr lang="en-GB" sz="1200">
                <a:solidFill>
                  <a:schemeClr val="dk1"/>
                </a:solidFill>
                <a:highlight>
                  <a:srgbClr val="FFFFFF"/>
                </a:highlight>
                <a:latin typeface="Nunito"/>
                <a:ea typeface="Nunito"/>
                <a:cs typeface="Nunito"/>
                <a:sym typeface="Nunito"/>
              </a:rPr>
              <a:t>_id is a 12 bytes hexadecimal number which assures the uniqueness of every document. You can provide _id while inserting the document. If you don’t provide then MongoDB provides a unique id for every document. These 12 bytes first 4 bytes for the current timestamp, next 3 bytes for machine id, next 2 bytes for process id of MongoDB server and remaining 3 bytes are simple incremental VALUE.</a:t>
            </a:r>
            <a:endParaRPr sz="1200">
              <a:solidFill>
                <a:schemeClr val="dk1"/>
              </a:solidFill>
              <a:highlight>
                <a:srgbClr val="FFFFFF"/>
              </a:highlight>
              <a:latin typeface="Nunito"/>
              <a:ea typeface="Nunito"/>
              <a:cs typeface="Nunito"/>
              <a:sym typeface="Nunito"/>
            </a:endParaRPr>
          </a:p>
          <a:p>
            <a:pPr indent="0" lvl="0" marL="0" rtl="0" algn="l">
              <a:lnSpc>
                <a:spcPct val="125000"/>
              </a:lnSpc>
              <a:spcBef>
                <a:spcPts val="1800"/>
              </a:spcBef>
              <a:spcAft>
                <a:spcPts val="0"/>
              </a:spcAft>
              <a:buNone/>
            </a:pPr>
            <a:r>
              <a:rPr b="1" lang="en-GB" sz="1750">
                <a:solidFill>
                  <a:schemeClr val="dk1"/>
                </a:solidFill>
              </a:rPr>
              <a:t>Advantages of MongoDB over RDBMS</a:t>
            </a:r>
            <a:endParaRPr b="1" sz="1750">
              <a:solidFill>
                <a:schemeClr val="dk1"/>
              </a:solidFill>
            </a:endParaRPr>
          </a:p>
          <a:p>
            <a:pPr indent="0" lvl="0" marL="0" rtl="0" algn="just">
              <a:spcBef>
                <a:spcPts val="400"/>
              </a:spcBef>
              <a:spcAft>
                <a:spcPts val="0"/>
              </a:spcAft>
              <a:buNone/>
            </a:pPr>
            <a:r>
              <a:rPr lang="en-GB" sz="1200">
                <a:solidFill>
                  <a:schemeClr val="dk1"/>
                </a:solidFill>
                <a:highlight>
                  <a:srgbClr val="FFFFFF"/>
                </a:highlight>
                <a:latin typeface="Nunito"/>
                <a:ea typeface="Nunito"/>
                <a:cs typeface="Nunito"/>
                <a:sym typeface="Nunito"/>
              </a:rPr>
              <a:t>Any relational database has a typical schema design that shows number of tables and the relationship between these tables. While in MongoDB, there is no concept of relationship.</a:t>
            </a:r>
            <a:endParaRPr sz="1200">
              <a:solidFill>
                <a:schemeClr val="dk1"/>
              </a:solidFill>
              <a:highlight>
                <a:srgbClr val="FFFFFF"/>
              </a:highlight>
              <a:latin typeface="Nunito"/>
              <a:ea typeface="Nunito"/>
              <a:cs typeface="Nunito"/>
              <a:sym typeface="Nunito"/>
            </a:endParaRPr>
          </a:p>
          <a:p>
            <a:pPr indent="-299085" lvl="0" marL="889000" rtl="0" algn="l">
              <a:lnSpc>
                <a:spcPct val="150000"/>
              </a:lnSpc>
              <a:spcBef>
                <a:spcPts val="120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Schema less − MongoDB is a document database in which one collection holds different documents. Number of fields, content and size of the document can differ from one document to another.</a:t>
            </a:r>
            <a:endParaRPr sz="1200">
              <a:solidFill>
                <a:schemeClr val="dk1"/>
              </a:solidFill>
              <a:latin typeface="Nunito"/>
              <a:ea typeface="Nunito"/>
              <a:cs typeface="Nunito"/>
              <a:sym typeface="Nunito"/>
            </a:endParaRPr>
          </a:p>
          <a:p>
            <a:pPr indent="-299085"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Structure of a single object is clear.</a:t>
            </a:r>
            <a:endParaRPr sz="1200">
              <a:solidFill>
                <a:schemeClr val="dk1"/>
              </a:solidFill>
              <a:latin typeface="Nunito"/>
              <a:ea typeface="Nunito"/>
              <a:cs typeface="Nunito"/>
              <a:sym typeface="Nunito"/>
            </a:endParaRPr>
          </a:p>
          <a:p>
            <a:pPr indent="-299085"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No complex joins.</a:t>
            </a:r>
            <a:endParaRPr sz="1200">
              <a:solidFill>
                <a:schemeClr val="dk1"/>
              </a:solidFill>
              <a:latin typeface="Nunito"/>
              <a:ea typeface="Nunito"/>
              <a:cs typeface="Nunito"/>
              <a:sym typeface="Nunito"/>
            </a:endParaRPr>
          </a:p>
          <a:p>
            <a:pPr indent="-299085"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Deep query-ability. MongoDB supports dynamic queries on documents using a document-based query language that's nearly as powerful as SQL.</a:t>
            </a:r>
            <a:endParaRPr sz="1200">
              <a:solidFill>
                <a:schemeClr val="dk1"/>
              </a:solidFill>
              <a:latin typeface="Nunito"/>
              <a:ea typeface="Nunito"/>
              <a:cs typeface="Nunito"/>
              <a:sym typeface="Nunito"/>
            </a:endParaRPr>
          </a:p>
          <a:p>
            <a:pPr indent="-299085"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Tuning.</a:t>
            </a:r>
            <a:endParaRPr sz="1200">
              <a:solidFill>
                <a:schemeClr val="dk1"/>
              </a:solidFill>
              <a:latin typeface="Nunito"/>
              <a:ea typeface="Nunito"/>
              <a:cs typeface="Nunito"/>
              <a:sym typeface="Nunito"/>
            </a:endParaRPr>
          </a:p>
          <a:p>
            <a:pPr indent="-299085"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Ease of scale-out − MongoDB is easy to scale.</a:t>
            </a:r>
            <a:endParaRPr sz="1200">
              <a:solidFill>
                <a:schemeClr val="dk1"/>
              </a:solidFill>
              <a:latin typeface="Nunito"/>
              <a:ea typeface="Nunito"/>
              <a:cs typeface="Nunito"/>
              <a:sym typeface="Nunito"/>
            </a:endParaRPr>
          </a:p>
          <a:p>
            <a:pPr indent="-299085"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Conversion/mapping of application objects to database objects not needed.</a:t>
            </a:r>
            <a:endParaRPr sz="1200">
              <a:solidFill>
                <a:schemeClr val="dk1"/>
              </a:solidFill>
              <a:latin typeface="Nunito"/>
              <a:ea typeface="Nunito"/>
              <a:cs typeface="Nunito"/>
              <a:sym typeface="Nunito"/>
            </a:endParaRPr>
          </a:p>
          <a:p>
            <a:pPr indent="0" lvl="0" marL="0" rtl="0" algn="just">
              <a:spcBef>
                <a:spcPts val="3000"/>
              </a:spcBef>
              <a:spcAft>
                <a:spcPts val="1200"/>
              </a:spcAft>
              <a:buNone/>
            </a:pPr>
            <a:r>
              <a:t/>
            </a:r>
            <a:endParaRPr sz="1200">
              <a:solidFill>
                <a:schemeClr val="dk1"/>
              </a:solidFill>
              <a:highlight>
                <a:srgbClr val="FFFFFF"/>
              </a:highlight>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ph idx="1" type="body"/>
          </p:nvPr>
        </p:nvSpPr>
        <p:spPr>
          <a:xfrm>
            <a:off x="311700" y="194475"/>
            <a:ext cx="8520600" cy="4374300"/>
          </a:xfrm>
          <a:prstGeom prst="rect">
            <a:avLst/>
          </a:prstGeom>
        </p:spPr>
        <p:txBody>
          <a:bodyPr anchorCtr="0" anchor="t" bIns="91425" lIns="91425" spcFirstLastPara="1" rIns="91425" wrap="square" tIns="91425">
            <a:normAutofit fontScale="85000" lnSpcReduction="20000"/>
          </a:bodyPr>
          <a:lstStyle/>
          <a:p>
            <a:pPr indent="0" lvl="0" marL="0" rtl="0" algn="l">
              <a:lnSpc>
                <a:spcPct val="125000"/>
              </a:lnSpc>
              <a:spcBef>
                <a:spcPts val="1800"/>
              </a:spcBef>
              <a:spcAft>
                <a:spcPts val="0"/>
              </a:spcAft>
              <a:buClr>
                <a:schemeClr val="dk1"/>
              </a:buClr>
              <a:buSzPct val="62857"/>
              <a:buFont typeface="Arial"/>
              <a:buNone/>
            </a:pPr>
            <a:r>
              <a:rPr lang="en-GB" sz="1750">
                <a:solidFill>
                  <a:schemeClr val="dk1"/>
                </a:solidFill>
              </a:rPr>
              <a:t>Why Use MongoDB?</a:t>
            </a:r>
            <a:endParaRPr sz="1750">
              <a:solidFill>
                <a:schemeClr val="dk1"/>
              </a:solidFill>
            </a:endParaRPr>
          </a:p>
          <a:p>
            <a:pPr indent="-293369" lvl="0" marL="889000" rtl="0" algn="l">
              <a:lnSpc>
                <a:spcPct val="150000"/>
              </a:lnSpc>
              <a:spcBef>
                <a:spcPts val="40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Document Oriented Storage − Data is stored in the form of JSON style documents.</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Index on any attribute</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Replication and high availability</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Auto-Sharding</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Rich queries</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Fast in-place updates</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t/>
            </a:r>
            <a:endParaRPr sz="1200">
              <a:solidFill>
                <a:schemeClr val="dk1"/>
              </a:solidFill>
              <a:latin typeface="Nunito"/>
              <a:ea typeface="Nunito"/>
              <a:cs typeface="Nunito"/>
              <a:sym typeface="Nunito"/>
            </a:endParaRPr>
          </a:p>
          <a:p>
            <a:pPr indent="0" lvl="0" marL="0" rtl="0" algn="l">
              <a:lnSpc>
                <a:spcPct val="125000"/>
              </a:lnSpc>
              <a:spcBef>
                <a:spcPts val="3000"/>
              </a:spcBef>
              <a:spcAft>
                <a:spcPts val="0"/>
              </a:spcAft>
              <a:buClr>
                <a:schemeClr val="dk1"/>
              </a:buClr>
              <a:buSzPct val="62857"/>
              <a:buFont typeface="Arial"/>
              <a:buNone/>
            </a:pPr>
            <a:r>
              <a:rPr lang="en-GB" sz="1750">
                <a:solidFill>
                  <a:schemeClr val="dk1"/>
                </a:solidFill>
              </a:rPr>
              <a:t>Where to Use MongoDB?</a:t>
            </a:r>
            <a:endParaRPr sz="1750">
              <a:solidFill>
                <a:schemeClr val="dk1"/>
              </a:solidFill>
            </a:endParaRPr>
          </a:p>
          <a:p>
            <a:pPr indent="-293369" lvl="0" marL="889000" rtl="0" algn="l">
              <a:lnSpc>
                <a:spcPct val="150000"/>
              </a:lnSpc>
              <a:spcBef>
                <a:spcPts val="40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Big Data</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Content Management and Delivery</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Mobile and Social Infrastructure</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User Data Management</a:t>
            </a:r>
            <a:endParaRPr sz="1200">
              <a:solidFill>
                <a:schemeClr val="dk1"/>
              </a:solidFill>
              <a:latin typeface="Nunito"/>
              <a:ea typeface="Nunito"/>
              <a:cs typeface="Nunito"/>
              <a:sym typeface="Nunito"/>
            </a:endParaRPr>
          </a:p>
          <a:p>
            <a:pPr indent="-293369" lvl="0" marL="889000" rtl="0" algn="l">
              <a:lnSpc>
                <a:spcPct val="150000"/>
              </a:lnSpc>
              <a:spcBef>
                <a:spcPts val="0"/>
              </a:spcBef>
              <a:spcAft>
                <a:spcPts val="0"/>
              </a:spcAft>
              <a:buClr>
                <a:schemeClr val="dk1"/>
              </a:buClr>
              <a:buSzPct val="100000"/>
              <a:buFont typeface="Nunito"/>
              <a:buChar char="●"/>
            </a:pPr>
            <a:r>
              <a:rPr lang="en-GB" sz="1200">
                <a:solidFill>
                  <a:schemeClr val="dk1"/>
                </a:solidFill>
                <a:latin typeface="Nunito"/>
                <a:ea typeface="Nunito"/>
                <a:cs typeface="Nunito"/>
                <a:sym typeface="Nunito"/>
              </a:rPr>
              <a:t>Data Hub</a:t>
            </a:r>
            <a:endParaRPr sz="1200">
              <a:solidFill>
                <a:schemeClr val="dk1"/>
              </a:solidFill>
              <a:latin typeface="Nunito"/>
              <a:ea typeface="Nunito"/>
              <a:cs typeface="Nunito"/>
              <a:sym typeface="Nunito"/>
            </a:endParaRPr>
          </a:p>
          <a:p>
            <a:pPr indent="0" lvl="0" marL="0" rtl="0" algn="l">
              <a:spcBef>
                <a:spcPts val="30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ph idx="1" type="body"/>
          </p:nvPr>
        </p:nvSpPr>
        <p:spPr>
          <a:xfrm>
            <a:off x="311700" y="194475"/>
            <a:ext cx="8520600" cy="4374300"/>
          </a:xfrm>
          <a:prstGeom prst="rect">
            <a:avLst/>
          </a:prstGeom>
        </p:spPr>
        <p:txBody>
          <a:bodyPr anchorCtr="0" anchor="t" bIns="91425" lIns="91425" spcFirstLastPara="1" rIns="91425" wrap="square" tIns="91425">
            <a:normAutofit/>
          </a:bodyPr>
          <a:lstStyle/>
          <a:p>
            <a:pPr indent="0" lvl="0" marL="0" rtl="0" algn="l">
              <a:lnSpc>
                <a:spcPct val="125000"/>
              </a:lnSpc>
              <a:spcBef>
                <a:spcPts val="0"/>
              </a:spcBef>
              <a:spcAft>
                <a:spcPts val="0"/>
              </a:spcAft>
              <a:buNone/>
            </a:pPr>
            <a:r>
              <a:rPr b="1" lang="en-GB" sz="2100">
                <a:solidFill>
                  <a:srgbClr val="303030"/>
                </a:solidFill>
              </a:rPr>
              <a:t>Data Modelling - </a:t>
            </a:r>
            <a:r>
              <a:rPr lang="en-GB" sz="1200">
                <a:solidFill>
                  <a:schemeClr val="dk1"/>
                </a:solidFill>
                <a:highlight>
                  <a:srgbClr val="FFFFFF"/>
                </a:highlight>
                <a:latin typeface="Nunito"/>
                <a:ea typeface="Nunito"/>
                <a:cs typeface="Nunito"/>
                <a:sym typeface="Nunito"/>
              </a:rPr>
              <a:t>Data in MongoDB has a flexible schema.documents in the same collection. They do not need to have the same set of fields or structure Common fields in a collection’s documents may hold different types of data.</a:t>
            </a:r>
            <a:endParaRPr sz="1200">
              <a:solidFill>
                <a:schemeClr val="dk1"/>
              </a:solidFill>
              <a:highlight>
                <a:srgbClr val="FFFFFF"/>
              </a:highlight>
              <a:latin typeface="Nunito"/>
              <a:ea typeface="Nunito"/>
              <a:cs typeface="Nunito"/>
              <a:sym typeface="Nunito"/>
            </a:endParaRPr>
          </a:p>
          <a:p>
            <a:pPr indent="0" lvl="0" marL="0" rtl="0" algn="l">
              <a:lnSpc>
                <a:spcPct val="125000"/>
              </a:lnSpc>
              <a:spcBef>
                <a:spcPts val="1800"/>
              </a:spcBef>
              <a:spcAft>
                <a:spcPts val="0"/>
              </a:spcAft>
              <a:buNone/>
            </a:pPr>
            <a:r>
              <a:rPr b="1" lang="en-GB" sz="1750">
                <a:solidFill>
                  <a:schemeClr val="dk1"/>
                </a:solidFill>
              </a:rPr>
              <a:t>Data Model Design</a:t>
            </a:r>
            <a:endParaRPr b="1" sz="1750">
              <a:solidFill>
                <a:schemeClr val="dk1"/>
              </a:solidFill>
            </a:endParaRPr>
          </a:p>
          <a:p>
            <a:pPr indent="0" lvl="0" marL="0" rtl="0" algn="just">
              <a:lnSpc>
                <a:spcPct val="160000"/>
              </a:lnSpc>
              <a:spcBef>
                <a:spcPts val="600"/>
              </a:spcBef>
              <a:spcAft>
                <a:spcPts val="0"/>
              </a:spcAft>
              <a:buNone/>
            </a:pPr>
            <a:r>
              <a:rPr lang="en-GB" sz="1200">
                <a:solidFill>
                  <a:schemeClr val="dk1"/>
                </a:solidFill>
                <a:latin typeface="Nunito"/>
                <a:ea typeface="Nunito"/>
                <a:cs typeface="Nunito"/>
                <a:sym typeface="Nunito"/>
              </a:rPr>
              <a:t>MongoDB provides two types of data models: — Embedded data model and Normalized data model. Based on the requirement, you can use either of the models while preparing your document.</a:t>
            </a:r>
            <a:endParaRPr sz="1200">
              <a:solidFill>
                <a:schemeClr val="dk1"/>
              </a:solidFill>
              <a:latin typeface="Nunito"/>
              <a:ea typeface="Nunito"/>
              <a:cs typeface="Nunito"/>
              <a:sym typeface="Nunito"/>
            </a:endParaRPr>
          </a:p>
          <a:p>
            <a:pPr indent="0" lvl="0" marL="0" rtl="0" algn="l">
              <a:lnSpc>
                <a:spcPct val="125000"/>
              </a:lnSpc>
              <a:spcBef>
                <a:spcPts val="700"/>
              </a:spcBef>
              <a:spcAft>
                <a:spcPts val="0"/>
              </a:spcAft>
              <a:buNone/>
            </a:pPr>
            <a:r>
              <a:t/>
            </a:r>
            <a:endParaRPr sz="1200">
              <a:solidFill>
                <a:schemeClr val="dk1"/>
              </a:solidFill>
              <a:highlight>
                <a:srgbClr val="FFFFFF"/>
              </a:highlight>
              <a:latin typeface="Nunito"/>
              <a:ea typeface="Nunito"/>
              <a:cs typeface="Nunito"/>
              <a:sym typeface="Nunito"/>
            </a:endParaRPr>
          </a:p>
          <a:p>
            <a:pPr indent="0" lvl="0" marL="0" rtl="0" algn="l">
              <a:lnSpc>
                <a:spcPct val="125000"/>
              </a:lnSpc>
              <a:spcBef>
                <a:spcPts val="0"/>
              </a:spcBef>
              <a:spcAft>
                <a:spcPts val="0"/>
              </a:spcAft>
              <a:buClr>
                <a:schemeClr val="dk1"/>
              </a:buClr>
              <a:buSzPts val="1100"/>
              <a:buFont typeface="Arial"/>
              <a:buNone/>
            </a:pPr>
            <a:r>
              <a:t/>
            </a:r>
            <a:endParaRPr b="1" sz="2100">
              <a:solidFill>
                <a:srgbClr val="303030"/>
              </a:solidFill>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9"/>
          <p:cNvSpPr txBox="1"/>
          <p:nvPr>
            <p:ph idx="1" type="body"/>
          </p:nvPr>
        </p:nvSpPr>
        <p:spPr>
          <a:xfrm>
            <a:off x="311700" y="194475"/>
            <a:ext cx="8520600" cy="43743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100"/>
              </a:spcBef>
              <a:spcAft>
                <a:spcPts val="0"/>
              </a:spcAft>
              <a:buClr>
                <a:schemeClr val="dk1"/>
              </a:buClr>
              <a:buSzPts val="1100"/>
              <a:buFont typeface="Arial"/>
              <a:buNone/>
            </a:pPr>
            <a:r>
              <a:rPr lang="en-GB" sz="1500">
                <a:solidFill>
                  <a:schemeClr val="dk1"/>
                </a:solidFill>
              </a:rPr>
              <a:t>Embedded Data Model</a:t>
            </a:r>
            <a:endParaRPr sz="1500">
              <a:solidFill>
                <a:schemeClr val="dk1"/>
              </a:solidFill>
            </a:endParaRPr>
          </a:p>
          <a:p>
            <a:pPr indent="0" lvl="0" marL="0" rtl="0" algn="just">
              <a:lnSpc>
                <a:spcPct val="100000"/>
              </a:lnSpc>
              <a:spcBef>
                <a:spcPts val="100"/>
              </a:spcBef>
              <a:spcAft>
                <a:spcPts val="0"/>
              </a:spcAft>
              <a:buClr>
                <a:schemeClr val="dk1"/>
              </a:buClr>
              <a:buSzPts val="1100"/>
              <a:buFont typeface="Arial"/>
              <a:buNone/>
            </a:pPr>
            <a:r>
              <a:rPr lang="en-GB" sz="1200">
                <a:solidFill>
                  <a:schemeClr val="dk1"/>
                </a:solidFill>
                <a:latin typeface="Nunito"/>
                <a:ea typeface="Nunito"/>
                <a:cs typeface="Nunito"/>
                <a:sym typeface="Nunito"/>
              </a:rPr>
              <a:t>In this model, you can have (embed) all the related data in a single document, it is also known as de-normalized data model.</a:t>
            </a:r>
            <a:endParaRPr sz="1200">
              <a:solidFill>
                <a:schemeClr val="dk1"/>
              </a:solidFill>
              <a:latin typeface="Nunito"/>
              <a:ea typeface="Nunito"/>
              <a:cs typeface="Nunito"/>
              <a:sym typeface="Nunito"/>
            </a:endParaRPr>
          </a:p>
          <a:p>
            <a:pPr indent="0" lvl="0" marL="0" rtl="0" algn="just">
              <a:lnSpc>
                <a:spcPct val="100000"/>
              </a:lnSpc>
              <a:spcBef>
                <a:spcPts val="100"/>
              </a:spcBef>
              <a:spcAft>
                <a:spcPts val="0"/>
              </a:spcAft>
              <a:buClr>
                <a:schemeClr val="dk1"/>
              </a:buClr>
              <a:buSzPts val="1100"/>
              <a:buFont typeface="Arial"/>
              <a:buNone/>
            </a:pPr>
            <a:r>
              <a:rPr lang="en-GB" sz="1200">
                <a:solidFill>
                  <a:schemeClr val="dk1"/>
                </a:solidFill>
                <a:latin typeface="Nunito"/>
                <a:ea typeface="Nunito"/>
                <a:cs typeface="Nunito"/>
                <a:sym typeface="Nunito"/>
              </a:rPr>
              <a:t>For example, assume we are getting the details of employees in three different documents namely, Personal_details, Contact and, Address, you can embed all the three documents in a single one as shown below −</a:t>
            </a:r>
            <a:endParaRPr sz="1200">
              <a:solidFill>
                <a:schemeClr val="dk1"/>
              </a:solidFill>
              <a:latin typeface="Nunito"/>
              <a:ea typeface="Nunito"/>
              <a:cs typeface="Nunito"/>
              <a:sym typeface="Nunito"/>
            </a:endParaRPr>
          </a:p>
          <a:p>
            <a:pPr indent="0" lvl="0" marL="0" rtl="0" algn="l">
              <a:lnSpc>
                <a:spcPct val="100000"/>
              </a:lnSpc>
              <a:spcBef>
                <a:spcPts val="100"/>
              </a:spcBef>
              <a:spcAft>
                <a:spcPts val="0"/>
              </a:spcAft>
              <a:buNone/>
            </a:pP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_id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Emp_ID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"10025AE336"</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Personal_details</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First_Name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"Radhika"</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Last_Name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"Sharma"</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Date_Of_Birth</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"1995-09-26"</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Contact</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e</a:t>
            </a:r>
            <a:r>
              <a:rPr lang="en-GB" sz="1150">
                <a:solidFill>
                  <a:srgbClr val="666600"/>
                </a:solidFill>
                <a:highlight>
                  <a:srgbClr val="EEEEEE"/>
                </a:highlight>
              </a:rPr>
              <a:t>-</a:t>
            </a:r>
            <a:r>
              <a:rPr lang="en-GB" sz="1150">
                <a:solidFill>
                  <a:schemeClr val="dk1"/>
                </a:solidFill>
                <a:highlight>
                  <a:srgbClr val="EEEEEE"/>
                </a:highlight>
              </a:rPr>
              <a:t>mail</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"radhika_sharma.123@gmail.com"</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phone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"9848022338"</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Address</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city</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"Hyderabad"</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Area</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"Madapur"</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State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"Telangana"</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6600"/>
                </a:solidFill>
                <a:highlight>
                  <a:srgbClr val="EEEEEE"/>
                </a:highlight>
              </a:rPr>
              <a:t>}</a:t>
            </a:r>
            <a:endParaRPr sz="1150">
              <a:solidFill>
                <a:schemeClr val="dk1"/>
              </a:solidFill>
              <a:highlight>
                <a:srgbClr val="EEEEEE"/>
              </a:highlight>
            </a:endParaRPr>
          </a:p>
          <a:p>
            <a:pPr indent="0" lvl="0" marL="25400" marR="25400" rtl="0" algn="l">
              <a:lnSpc>
                <a:spcPct val="100000"/>
              </a:lnSpc>
              <a:spcBef>
                <a:spcPts val="100"/>
              </a:spcBef>
              <a:spcAft>
                <a:spcPts val="0"/>
              </a:spcAft>
              <a:buClr>
                <a:schemeClr val="dk1"/>
              </a:buClr>
              <a:buSzPts val="1100"/>
              <a:buFont typeface="Arial"/>
              <a:buNone/>
            </a:pPr>
            <a:r>
              <a:rPr lang="en-GB" sz="1150">
                <a:solidFill>
                  <a:srgbClr val="666600"/>
                </a:solidFill>
                <a:highlight>
                  <a:srgbClr val="EEEEEE"/>
                </a:highlight>
              </a:rPr>
              <a:t>}</a:t>
            </a:r>
            <a:endParaRPr sz="1150">
              <a:solidFill>
                <a:srgbClr val="666600"/>
              </a:solidFill>
              <a:highlight>
                <a:srgbClr val="EEEEEE"/>
              </a:highlight>
            </a:endParaRPr>
          </a:p>
          <a:p>
            <a:pPr indent="0" lvl="0" marL="0" rtl="0" algn="l">
              <a:spcBef>
                <a:spcPts val="1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idx="1" type="body"/>
          </p:nvPr>
        </p:nvSpPr>
        <p:spPr>
          <a:xfrm>
            <a:off x="311700" y="194475"/>
            <a:ext cx="8520600" cy="43743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100"/>
              </a:spcBef>
              <a:spcAft>
                <a:spcPts val="0"/>
              </a:spcAft>
              <a:buClr>
                <a:schemeClr val="dk1"/>
              </a:buClr>
              <a:buSzPct val="73333"/>
              <a:buFont typeface="Arial"/>
              <a:buNone/>
            </a:pPr>
            <a:r>
              <a:rPr lang="en-GB" sz="1500">
                <a:solidFill>
                  <a:schemeClr val="dk1"/>
                </a:solidFill>
              </a:rPr>
              <a:t>Normalized Data Model</a:t>
            </a:r>
            <a:endParaRPr sz="1500">
              <a:solidFill>
                <a:schemeClr val="dk1"/>
              </a:solidFill>
            </a:endParaRPr>
          </a:p>
          <a:p>
            <a:pPr indent="0" lvl="0" marL="0" rtl="0" algn="just">
              <a:lnSpc>
                <a:spcPct val="100000"/>
              </a:lnSpc>
              <a:spcBef>
                <a:spcPts val="100"/>
              </a:spcBef>
              <a:spcAft>
                <a:spcPts val="0"/>
              </a:spcAft>
              <a:buClr>
                <a:schemeClr val="dk1"/>
              </a:buClr>
              <a:buSzPct val="91666"/>
              <a:buFont typeface="Arial"/>
              <a:buNone/>
            </a:pPr>
            <a:r>
              <a:rPr lang="en-GB" sz="1200">
                <a:solidFill>
                  <a:schemeClr val="dk1"/>
                </a:solidFill>
                <a:latin typeface="Nunito"/>
                <a:ea typeface="Nunito"/>
                <a:cs typeface="Nunito"/>
                <a:sym typeface="Nunito"/>
              </a:rPr>
              <a:t>In this model, you can refer the sub documents in the original document, using references. For example, you can re-write the above document in the normalized model as:</a:t>
            </a:r>
            <a:endParaRPr sz="1200">
              <a:solidFill>
                <a:schemeClr val="dk1"/>
              </a:solidFill>
              <a:latin typeface="Nunito"/>
              <a:ea typeface="Nunito"/>
              <a:cs typeface="Nunito"/>
              <a:sym typeface="Nunito"/>
            </a:endParaRPr>
          </a:p>
          <a:p>
            <a:pPr indent="0" lvl="0" marL="0" rtl="0" algn="just">
              <a:lnSpc>
                <a:spcPct val="100000"/>
              </a:lnSpc>
              <a:spcBef>
                <a:spcPts val="100"/>
              </a:spcBef>
              <a:spcAft>
                <a:spcPts val="0"/>
              </a:spcAft>
              <a:buClr>
                <a:schemeClr val="dk1"/>
              </a:buClr>
              <a:buSzPct val="91666"/>
              <a:buFont typeface="Arial"/>
              <a:buNone/>
            </a:pPr>
            <a:r>
              <a:rPr lang="en-GB" sz="1200">
                <a:solidFill>
                  <a:schemeClr val="dk1"/>
                </a:solidFill>
                <a:latin typeface="Nunito"/>
                <a:ea typeface="Nunito"/>
                <a:cs typeface="Nunito"/>
                <a:sym typeface="Nunito"/>
              </a:rPr>
              <a:t>Employee:</a:t>
            </a:r>
            <a:endParaRPr sz="1200">
              <a:solidFill>
                <a:schemeClr val="dk1"/>
              </a:solidFill>
              <a:latin typeface="Nunito"/>
              <a:ea typeface="Nunito"/>
              <a:cs typeface="Nunito"/>
              <a:sym typeface="Nunito"/>
            </a:endParaRPr>
          </a:p>
          <a:p>
            <a:pPr indent="0" lvl="0" marL="0" rtl="0" algn="l">
              <a:lnSpc>
                <a:spcPct val="100000"/>
              </a:lnSpc>
              <a:spcBef>
                <a:spcPts val="100"/>
              </a:spcBef>
              <a:spcAft>
                <a:spcPts val="0"/>
              </a:spcAft>
              <a:buNone/>
            </a:pP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_id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&lt;</a:t>
            </a:r>
            <a:r>
              <a:rPr lang="en-GB" sz="1150">
                <a:solidFill>
                  <a:srgbClr val="660066"/>
                </a:solidFill>
                <a:highlight>
                  <a:srgbClr val="EEEEEE"/>
                </a:highlight>
              </a:rPr>
              <a:t>ObjectId101</a:t>
            </a:r>
            <a:r>
              <a:rPr lang="en-GB" sz="1150">
                <a:solidFill>
                  <a:srgbClr val="666600"/>
                </a:solidFill>
                <a:highlight>
                  <a:srgbClr val="EEEEEE"/>
                </a:highlight>
              </a:rPr>
              <a:t>&gt;,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Emp_ID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"10025AE336"</a:t>
            </a:r>
            <a:endParaRPr sz="1150">
              <a:solidFill>
                <a:schemeClr val="dk1"/>
              </a:solidFill>
              <a:highlight>
                <a:srgbClr val="EEEEEE"/>
              </a:highlight>
            </a:endParaRPr>
          </a:p>
          <a:p>
            <a:pPr indent="0" lvl="0" marL="25400" marR="25400" rtl="0" algn="l">
              <a:lnSpc>
                <a:spcPct val="100000"/>
              </a:lnSpc>
              <a:spcBef>
                <a:spcPts val="100"/>
              </a:spcBef>
              <a:spcAft>
                <a:spcPts val="0"/>
              </a:spcAft>
              <a:buClr>
                <a:schemeClr val="dk1"/>
              </a:buClr>
              <a:buSzPct val="95652"/>
              <a:buFont typeface="Arial"/>
              <a:buNone/>
            </a:pPr>
            <a:r>
              <a:rPr lang="en-GB" sz="1150">
                <a:solidFill>
                  <a:srgbClr val="666600"/>
                </a:solidFill>
                <a:highlight>
                  <a:srgbClr val="EEEEEE"/>
                </a:highlight>
              </a:rPr>
              <a:t>}</a:t>
            </a:r>
            <a:endParaRPr sz="1150">
              <a:solidFill>
                <a:srgbClr val="666600"/>
              </a:solidFill>
              <a:highlight>
                <a:srgbClr val="EEEEEE"/>
              </a:highlight>
            </a:endParaRPr>
          </a:p>
          <a:p>
            <a:pPr indent="0" lvl="0" marL="0" rtl="0" algn="just">
              <a:lnSpc>
                <a:spcPct val="100000"/>
              </a:lnSpc>
              <a:spcBef>
                <a:spcPts val="100"/>
              </a:spcBef>
              <a:spcAft>
                <a:spcPts val="0"/>
              </a:spcAft>
              <a:buClr>
                <a:schemeClr val="dk1"/>
              </a:buClr>
              <a:buSzPct val="91666"/>
              <a:buFont typeface="Arial"/>
              <a:buNone/>
            </a:pPr>
            <a:r>
              <a:rPr lang="en-GB" sz="1200">
                <a:solidFill>
                  <a:schemeClr val="dk1"/>
                </a:solidFill>
                <a:latin typeface="Nunito"/>
                <a:ea typeface="Nunito"/>
                <a:cs typeface="Nunito"/>
                <a:sym typeface="Nunito"/>
              </a:rPr>
              <a:t>Personal_details:</a:t>
            </a:r>
            <a:endParaRPr sz="1200">
              <a:solidFill>
                <a:schemeClr val="dk1"/>
              </a:solidFill>
              <a:latin typeface="Nunito"/>
              <a:ea typeface="Nunito"/>
              <a:cs typeface="Nunito"/>
              <a:sym typeface="Nunito"/>
            </a:endParaRPr>
          </a:p>
          <a:p>
            <a:pPr indent="0" lvl="0" marL="0" rtl="0" algn="l">
              <a:lnSpc>
                <a:spcPct val="100000"/>
              </a:lnSpc>
              <a:spcBef>
                <a:spcPts val="100"/>
              </a:spcBef>
              <a:spcAft>
                <a:spcPts val="0"/>
              </a:spcAft>
              <a:buNone/>
            </a:pP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_id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&lt;</a:t>
            </a:r>
            <a:r>
              <a:rPr lang="en-GB" sz="1150">
                <a:solidFill>
                  <a:srgbClr val="660066"/>
                </a:solidFill>
                <a:highlight>
                  <a:srgbClr val="EEEEEE"/>
                </a:highlight>
              </a:rPr>
              <a:t>ObjectId102</a:t>
            </a:r>
            <a:r>
              <a:rPr lang="en-GB" sz="1150">
                <a:solidFill>
                  <a:srgbClr val="666600"/>
                </a:solidFill>
                <a:highlight>
                  <a:srgbClr val="EEEEEE"/>
                </a:highlight>
              </a:rPr>
              <a:t>&gt;,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empDocID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 ObjectId101"</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First_Name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"Radhika"</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Last_Name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"Sharma"</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Date_Of_Birth</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"1995-09-26"</a:t>
            </a:r>
            <a:endParaRPr sz="1150">
              <a:solidFill>
                <a:schemeClr val="dk1"/>
              </a:solidFill>
              <a:highlight>
                <a:srgbClr val="EEEEEE"/>
              </a:highlight>
            </a:endParaRPr>
          </a:p>
          <a:p>
            <a:pPr indent="0" lvl="0" marL="25400" marR="25400" rtl="0" algn="l">
              <a:lnSpc>
                <a:spcPct val="100000"/>
              </a:lnSpc>
              <a:spcBef>
                <a:spcPts val="100"/>
              </a:spcBef>
              <a:spcAft>
                <a:spcPts val="0"/>
              </a:spcAft>
              <a:buClr>
                <a:schemeClr val="dk1"/>
              </a:buClr>
              <a:buSzPct val="95652"/>
              <a:buFont typeface="Arial"/>
              <a:buNone/>
            </a:pPr>
            <a:r>
              <a:rPr lang="en-GB" sz="1150">
                <a:solidFill>
                  <a:srgbClr val="666600"/>
                </a:solidFill>
                <a:highlight>
                  <a:srgbClr val="EEEEEE"/>
                </a:highlight>
              </a:rPr>
              <a:t>}</a:t>
            </a:r>
            <a:endParaRPr sz="1150">
              <a:solidFill>
                <a:srgbClr val="666600"/>
              </a:solidFill>
              <a:highlight>
                <a:srgbClr val="EEEEEE"/>
              </a:highlight>
            </a:endParaRPr>
          </a:p>
          <a:p>
            <a:pPr indent="0" lvl="0" marL="0" rtl="0" algn="just">
              <a:lnSpc>
                <a:spcPct val="100000"/>
              </a:lnSpc>
              <a:spcBef>
                <a:spcPts val="100"/>
              </a:spcBef>
              <a:spcAft>
                <a:spcPts val="0"/>
              </a:spcAft>
              <a:buClr>
                <a:schemeClr val="dk1"/>
              </a:buClr>
              <a:buSzPct val="91666"/>
              <a:buFont typeface="Arial"/>
              <a:buNone/>
            </a:pPr>
            <a:r>
              <a:rPr lang="en-GB" sz="1200">
                <a:solidFill>
                  <a:schemeClr val="dk1"/>
                </a:solidFill>
                <a:latin typeface="Nunito"/>
                <a:ea typeface="Nunito"/>
                <a:cs typeface="Nunito"/>
                <a:sym typeface="Nunito"/>
              </a:rPr>
              <a:t>Contact:</a:t>
            </a:r>
            <a:endParaRPr sz="1200">
              <a:solidFill>
                <a:schemeClr val="dk1"/>
              </a:solidFill>
              <a:latin typeface="Nunito"/>
              <a:ea typeface="Nunito"/>
              <a:cs typeface="Nunito"/>
              <a:sym typeface="Nunito"/>
            </a:endParaRPr>
          </a:p>
          <a:p>
            <a:pPr indent="0" lvl="0" marL="0" rtl="0" algn="l">
              <a:lnSpc>
                <a:spcPct val="100000"/>
              </a:lnSpc>
              <a:spcBef>
                <a:spcPts val="100"/>
              </a:spcBef>
              <a:spcAft>
                <a:spcPts val="0"/>
              </a:spcAft>
              <a:buNone/>
            </a:pP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_id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&lt;</a:t>
            </a:r>
            <a:r>
              <a:rPr lang="en-GB" sz="1150">
                <a:solidFill>
                  <a:srgbClr val="660066"/>
                </a:solidFill>
                <a:highlight>
                  <a:srgbClr val="EEEEEE"/>
                </a:highlight>
              </a:rPr>
              <a:t>ObjectId103</a:t>
            </a:r>
            <a:r>
              <a:rPr lang="en-GB" sz="1150">
                <a:solidFill>
                  <a:srgbClr val="666600"/>
                </a:solidFill>
                <a:highlight>
                  <a:srgbClr val="EEEEEE"/>
                </a:highlight>
              </a:rPr>
              <a:t>&gt;,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empDocID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 ObjectId101"</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e</a:t>
            </a:r>
            <a:r>
              <a:rPr lang="en-GB" sz="1150">
                <a:solidFill>
                  <a:srgbClr val="666600"/>
                </a:solidFill>
                <a:highlight>
                  <a:srgbClr val="EEEEEE"/>
                </a:highlight>
              </a:rPr>
              <a:t>-</a:t>
            </a:r>
            <a:r>
              <a:rPr lang="en-GB" sz="1150">
                <a:solidFill>
                  <a:schemeClr val="dk1"/>
                </a:solidFill>
                <a:highlight>
                  <a:srgbClr val="EEEEEE"/>
                </a:highlight>
              </a:rPr>
              <a:t>mail</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"radhika_sharma.123@gmail.com"</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phone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"9848022338"</a:t>
            </a:r>
            <a:endParaRPr sz="1150">
              <a:solidFill>
                <a:schemeClr val="dk1"/>
              </a:solidFill>
              <a:highlight>
                <a:srgbClr val="EEEEEE"/>
              </a:highlight>
            </a:endParaRPr>
          </a:p>
          <a:p>
            <a:pPr indent="0" lvl="0" marL="25400" marR="25400" rtl="0" algn="l">
              <a:lnSpc>
                <a:spcPct val="100000"/>
              </a:lnSpc>
              <a:spcBef>
                <a:spcPts val="100"/>
              </a:spcBef>
              <a:spcAft>
                <a:spcPts val="0"/>
              </a:spcAft>
              <a:buClr>
                <a:schemeClr val="dk1"/>
              </a:buClr>
              <a:buSzPct val="95652"/>
              <a:buFont typeface="Arial"/>
              <a:buNone/>
            </a:pPr>
            <a:r>
              <a:rPr lang="en-GB" sz="1150">
                <a:solidFill>
                  <a:srgbClr val="666600"/>
                </a:solidFill>
                <a:highlight>
                  <a:srgbClr val="EEEEEE"/>
                </a:highlight>
              </a:rPr>
              <a:t>}</a:t>
            </a:r>
            <a:endParaRPr sz="1150">
              <a:solidFill>
                <a:srgbClr val="666600"/>
              </a:solidFill>
              <a:highlight>
                <a:srgbClr val="EEEEEE"/>
              </a:highlight>
            </a:endParaRPr>
          </a:p>
          <a:p>
            <a:pPr indent="0" lvl="0" marL="0" rtl="0" algn="just">
              <a:lnSpc>
                <a:spcPct val="100000"/>
              </a:lnSpc>
              <a:spcBef>
                <a:spcPts val="100"/>
              </a:spcBef>
              <a:spcAft>
                <a:spcPts val="0"/>
              </a:spcAft>
              <a:buClr>
                <a:schemeClr val="dk1"/>
              </a:buClr>
              <a:buSzPct val="91666"/>
              <a:buFont typeface="Arial"/>
              <a:buNone/>
            </a:pPr>
            <a:r>
              <a:rPr lang="en-GB" sz="1200">
                <a:solidFill>
                  <a:schemeClr val="dk1"/>
                </a:solidFill>
                <a:latin typeface="Nunito"/>
                <a:ea typeface="Nunito"/>
                <a:cs typeface="Nunito"/>
                <a:sym typeface="Nunito"/>
              </a:rPr>
              <a:t>Address:</a:t>
            </a:r>
            <a:endParaRPr sz="1200">
              <a:solidFill>
                <a:schemeClr val="dk1"/>
              </a:solidFill>
              <a:latin typeface="Nunito"/>
              <a:ea typeface="Nunito"/>
              <a:cs typeface="Nunito"/>
              <a:sym typeface="Nunito"/>
            </a:endParaRPr>
          </a:p>
          <a:p>
            <a:pPr indent="0" lvl="0" marL="0" rtl="0" algn="l">
              <a:lnSpc>
                <a:spcPct val="100000"/>
              </a:lnSpc>
              <a:spcBef>
                <a:spcPts val="100"/>
              </a:spcBef>
              <a:spcAft>
                <a:spcPts val="0"/>
              </a:spcAft>
              <a:buNone/>
            </a:pP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_id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666600"/>
                </a:solidFill>
                <a:highlight>
                  <a:srgbClr val="EEEEEE"/>
                </a:highlight>
              </a:rPr>
              <a:t>&lt;</a:t>
            </a:r>
            <a:r>
              <a:rPr lang="en-GB" sz="1150">
                <a:solidFill>
                  <a:srgbClr val="660066"/>
                </a:solidFill>
                <a:highlight>
                  <a:srgbClr val="EEEEEE"/>
                </a:highlight>
              </a:rPr>
              <a:t>ObjectId104</a:t>
            </a:r>
            <a:r>
              <a:rPr lang="en-GB" sz="1150">
                <a:solidFill>
                  <a:srgbClr val="666600"/>
                </a:solidFill>
                <a:highlight>
                  <a:srgbClr val="EEEEEE"/>
                </a:highlight>
              </a:rPr>
              <a:t>&gt;,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empDocID</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 ObjectId101"</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city</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"Hyderabad"</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Area</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"Madapur"</a:t>
            </a:r>
            <a:r>
              <a:rPr lang="en-GB" sz="1150">
                <a:solidFill>
                  <a:srgbClr val="666600"/>
                </a:solidFill>
                <a:highlight>
                  <a:srgbClr val="EEEEEE"/>
                </a:highlight>
              </a:rPr>
              <a:t>,</a:t>
            </a:r>
            <a:endParaRPr sz="1150">
              <a:solidFill>
                <a:schemeClr val="dk1"/>
              </a:solidFill>
              <a:highlight>
                <a:srgbClr val="EEEEEE"/>
              </a:highlight>
            </a:endParaRPr>
          </a:p>
          <a:p>
            <a:pPr indent="0" lvl="0" marL="0" rtl="0" algn="l">
              <a:lnSpc>
                <a:spcPct val="100000"/>
              </a:lnSpc>
              <a:spcBef>
                <a:spcPts val="100"/>
              </a:spcBef>
              <a:spcAft>
                <a:spcPts val="0"/>
              </a:spcAft>
              <a:buNone/>
            </a:pPr>
            <a:r>
              <a:rPr lang="en-GB" sz="1150">
                <a:solidFill>
                  <a:schemeClr val="dk1"/>
                </a:solidFill>
                <a:highlight>
                  <a:srgbClr val="EEEEEE"/>
                </a:highlight>
              </a:rPr>
              <a:t>	</a:t>
            </a:r>
            <a:r>
              <a:rPr lang="en-GB" sz="1150">
                <a:solidFill>
                  <a:srgbClr val="660066"/>
                </a:solidFill>
                <a:highlight>
                  <a:srgbClr val="EEEEEE"/>
                </a:highlight>
              </a:rPr>
              <a:t>State</a:t>
            </a:r>
            <a:r>
              <a:rPr lang="en-GB" sz="1150">
                <a:solidFill>
                  <a:srgbClr val="666600"/>
                </a:solidFill>
                <a:highlight>
                  <a:srgbClr val="EEEEEE"/>
                </a:highlight>
              </a:rPr>
              <a:t>:</a:t>
            </a:r>
            <a:r>
              <a:rPr lang="en-GB" sz="1150">
                <a:solidFill>
                  <a:schemeClr val="dk1"/>
                </a:solidFill>
                <a:highlight>
                  <a:srgbClr val="EEEEEE"/>
                </a:highlight>
              </a:rPr>
              <a:t> </a:t>
            </a:r>
            <a:r>
              <a:rPr lang="en-GB" sz="1150">
                <a:solidFill>
                  <a:srgbClr val="008800"/>
                </a:solidFill>
                <a:highlight>
                  <a:srgbClr val="EEEEEE"/>
                </a:highlight>
              </a:rPr>
              <a:t>"Telangana"</a:t>
            </a:r>
            <a:endParaRPr sz="1150">
              <a:solidFill>
                <a:schemeClr val="dk1"/>
              </a:solidFill>
              <a:highlight>
                <a:srgbClr val="EEEEEE"/>
              </a:highlight>
            </a:endParaRPr>
          </a:p>
          <a:p>
            <a:pPr indent="0" lvl="0" marL="25400" marR="25400" rtl="0" algn="l">
              <a:lnSpc>
                <a:spcPct val="100000"/>
              </a:lnSpc>
              <a:spcBef>
                <a:spcPts val="100"/>
              </a:spcBef>
              <a:spcAft>
                <a:spcPts val="0"/>
              </a:spcAft>
              <a:buClr>
                <a:schemeClr val="dk1"/>
              </a:buClr>
              <a:buSzPct val="95652"/>
              <a:buFont typeface="Arial"/>
              <a:buNone/>
            </a:pPr>
            <a:r>
              <a:rPr lang="en-GB" sz="1150">
                <a:solidFill>
                  <a:srgbClr val="666600"/>
                </a:solidFill>
                <a:highlight>
                  <a:srgbClr val="EEEEEE"/>
                </a:highlight>
              </a:rPr>
              <a:t>}</a:t>
            </a:r>
            <a:endParaRPr sz="1150">
              <a:solidFill>
                <a:srgbClr val="666600"/>
              </a:solidFill>
              <a:highlight>
                <a:srgbClr val="EEEEEE"/>
              </a:highlight>
            </a:endParaRPr>
          </a:p>
          <a:p>
            <a:pPr indent="0" lvl="0" marL="0" rtl="0" algn="l">
              <a:spcBef>
                <a:spcPts val="1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1"/>
          <p:cNvSpPr txBox="1"/>
          <p:nvPr>
            <p:ph idx="1" type="body"/>
          </p:nvPr>
        </p:nvSpPr>
        <p:spPr>
          <a:xfrm>
            <a:off x="311700" y="194475"/>
            <a:ext cx="8520600" cy="4374300"/>
          </a:xfrm>
          <a:prstGeom prst="rect">
            <a:avLst/>
          </a:prstGeom>
        </p:spPr>
        <p:txBody>
          <a:bodyPr anchorCtr="0" anchor="t" bIns="91425" lIns="91425" spcFirstLastPara="1" rIns="91425" wrap="square" tIns="91425">
            <a:noAutofit/>
          </a:bodyPr>
          <a:lstStyle/>
          <a:p>
            <a:pPr indent="0" lvl="0" marL="0" rtl="0" algn="ctr">
              <a:lnSpc>
                <a:spcPct val="125000"/>
              </a:lnSpc>
              <a:spcBef>
                <a:spcPts val="0"/>
              </a:spcBef>
              <a:spcAft>
                <a:spcPts val="0"/>
              </a:spcAft>
              <a:buClr>
                <a:schemeClr val="dk1"/>
              </a:buClr>
              <a:buSzPts val="1100"/>
              <a:buFont typeface="Arial"/>
              <a:buNone/>
            </a:pPr>
            <a:r>
              <a:rPr b="1" lang="en-GB" sz="1200">
                <a:solidFill>
                  <a:srgbClr val="303030"/>
                </a:solidFill>
              </a:rPr>
              <a:t>Datatypes</a:t>
            </a:r>
            <a:endParaRPr b="1" sz="1200">
              <a:solidFill>
                <a:srgbClr val="303030"/>
              </a:solidFill>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String − This is the most commonly used datatype to store the data. String in MongoDB must be UTF-8 valid.</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Integer − This type is used to store a numerical value. Integer can be 32 bit or 64 bit depending upon your server.</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Boolean − This type is used to store a boolean (true/ false) value.</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Double − This type is used to store floating point values.</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Min/ Max keys − This type is used to compare a value against the lowest and highest BSON elements.</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Arrays − This type is used to store arrays or list or multiple values into one key.</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Timestamp − timestamp. This can be handy for recording when a document has been modified or added.</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Object − This datatype is used for embedded documents.</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Null − This type is used to store a Null value.</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Date − This datatype is used to store the current date or time in UNIX time format. You can specify your own date time by creating object of Date and passing day, month, year into it.</a:t>
            </a:r>
            <a:endParaRPr sz="1200">
              <a:solidFill>
                <a:schemeClr val="dk1"/>
              </a:solidFill>
              <a:latin typeface="Nunito"/>
              <a:ea typeface="Nunito"/>
              <a:cs typeface="Nunito"/>
              <a:sym typeface="Nunito"/>
            </a:endParaRPr>
          </a:p>
          <a:p>
            <a:pPr indent="-304800" lvl="0" marL="457200" rtl="0" algn="l">
              <a:lnSpc>
                <a:spcPct val="150000"/>
              </a:lnSpc>
              <a:spcBef>
                <a:spcPts val="0"/>
              </a:spcBef>
              <a:spcAft>
                <a:spcPts val="0"/>
              </a:spcAft>
              <a:buClr>
                <a:schemeClr val="dk1"/>
              </a:buClr>
              <a:buSzPts val="1200"/>
              <a:buFont typeface="Nunito"/>
              <a:buChar char="●"/>
            </a:pPr>
            <a:r>
              <a:rPr lang="en-GB" sz="1200">
                <a:solidFill>
                  <a:schemeClr val="dk1"/>
                </a:solidFill>
                <a:latin typeface="Nunito"/>
                <a:ea typeface="Nunito"/>
                <a:cs typeface="Nunito"/>
                <a:sym typeface="Nunito"/>
              </a:rPr>
              <a:t>Object ID − This datatype is used to store the document’s ID.</a:t>
            </a:r>
            <a:endParaRPr sz="1200">
              <a:solidFill>
                <a:schemeClr val="dk1"/>
              </a:solidFill>
              <a:latin typeface="Nunito"/>
              <a:ea typeface="Nunito"/>
              <a:cs typeface="Nunito"/>
              <a:sym typeface="Nunito"/>
            </a:endParaRPr>
          </a:p>
          <a:p>
            <a:pPr indent="0" lvl="0" marL="457200" rtl="0" algn="l">
              <a:lnSpc>
                <a:spcPct val="150000"/>
              </a:lnSpc>
              <a:spcBef>
                <a:spcPts val="3000"/>
              </a:spcBef>
              <a:spcAft>
                <a:spcPts val="0"/>
              </a:spcAft>
              <a:buNone/>
            </a:pPr>
            <a:r>
              <a:t/>
            </a:r>
            <a:endParaRPr sz="1200">
              <a:solidFill>
                <a:schemeClr val="dk1"/>
              </a:solidFill>
              <a:latin typeface="Nunito"/>
              <a:ea typeface="Nunito"/>
              <a:cs typeface="Nunito"/>
              <a:sym typeface="Nunito"/>
            </a:endParaRPr>
          </a:p>
          <a:p>
            <a:pPr indent="0" lvl="0" marL="457200" rtl="0" algn="l">
              <a:lnSpc>
                <a:spcPct val="150000"/>
              </a:lnSpc>
              <a:spcBef>
                <a:spcPts val="3000"/>
              </a:spcBef>
              <a:spcAft>
                <a:spcPts val="0"/>
              </a:spcAft>
              <a:buNone/>
            </a:pPr>
            <a:r>
              <a:t/>
            </a:r>
            <a:endParaRPr sz="1200">
              <a:solidFill>
                <a:schemeClr val="dk1"/>
              </a:solidFill>
              <a:latin typeface="Nunito"/>
              <a:ea typeface="Nunito"/>
              <a:cs typeface="Nunito"/>
              <a:sym typeface="Nunito"/>
            </a:endParaRPr>
          </a:p>
          <a:p>
            <a:pPr indent="0" lvl="0" marL="0" rtl="0" algn="l">
              <a:spcBef>
                <a:spcPts val="3000"/>
              </a:spcBef>
              <a:spcAft>
                <a:spcPts val="1200"/>
              </a:spcAft>
              <a:buNone/>
            </a:pPr>
            <a:r>
              <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